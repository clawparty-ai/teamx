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41148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4A9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438912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A90E5"/>
                </a:solidFill>
                <a:latin typeface="Microsoft YaHei"/>
                <a:ea typeface="Microsoft YaHei"/>
              </a:rPr>
              <a:t>teamx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56855" y="466344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BF3FC"/>
          </a:solidFill>
          <a:ln w="9525">
            <a:solidFill>
              <a:srgbClr val="CF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0000" rIns="90000" tIns="0" bIns="0"/>
          <a:lstStyle/>
          <a:p>
            <a:pPr algn="l"/>
            <a:r>
              <a:rPr sz="1050" b="1">
                <a:solidFill>
                  <a:srgbClr val="4A90E5"/>
                </a:solidFill>
                <a:latin typeface="Microsoft YaHei"/>
                <a:ea typeface="Microsoft YaHei"/>
              </a:rPr>
              <a:t>FDE · 组织与治理底座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8412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333333"/>
                </a:solidFill>
                <a:latin typeface="Microsoft YaHei"/>
                <a:ea typeface="Microsoft YaHei"/>
              </a:rPr>
              <a:t>把 AI 工程师，像一支训练有素的远程团队，派驻到业务现场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4A90E5"/>
                </a:solidFill>
                <a:latin typeface="Microsoft YaHei"/>
                <a:ea typeface="Microsoft YaHei"/>
              </a:rPr>
              <a:t>teamx 是 AI FDE 的组织与治理底座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56816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909399"/>
                </a:solidFill>
                <a:latin typeface="Microsoft YaHei"/>
                <a:ea typeface="Microsoft YaHei"/>
              </a:rPr>
              <a:t>让“人类做方向、AI 工程师做执行”规模化运转——任务分派、状态流转、人工验收、全程留痕、成本配额，一个工作台全部看清。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880360"/>
            <a:ext cx="33832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29900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3264408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Microsoft YaHei"/>
                <a:ea typeface="Microsoft YaHei"/>
              </a:rPr>
              <a:t>对内：统一指挥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3520439"/>
            <a:ext cx="30906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909399"/>
                </a:solidFill>
                <a:latin typeface="Microsoft YaHei"/>
                <a:ea typeface="Microsoft YaHei"/>
              </a:rPr>
              <a:t>所有 FDE 项目进同一套团队操作系统：谁在做什么、卡在哪、花了多少，一目了然。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2" y="2880360"/>
            <a:ext cx="33832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7096" y="29900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7096" y="3264408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Microsoft YaHei"/>
                <a:ea typeface="Microsoft YaHei"/>
              </a:rPr>
              <a:t>对外：可信交付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7096" y="3520439"/>
            <a:ext cx="30906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909399"/>
                </a:solidFill>
                <a:latin typeface="Microsoft YaHei"/>
                <a:ea typeface="Microsoft YaHei"/>
              </a:rPr>
              <a:t>客户开一个团队就看到“自己的 AI 工程师”与实时工作台，按任务验收，不是黑盒 API。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0104" y="2880360"/>
            <a:ext cx="33832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29900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3264408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Microsoft YaHei"/>
                <a:ea typeface="Microsoft YaHei"/>
              </a:rPr>
              <a:t>全程留痕可控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3520439"/>
            <a:ext cx="30906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909399"/>
                </a:solidFill>
                <a:latin typeface="Microsoft YaHei"/>
                <a:ea typeface="Microsoft YaHei"/>
              </a:rPr>
              <a:t>每步进账本、交付可追溯、人工 Approve 写闸门 + 成本配额，让 AI 进生产能过风控。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956048"/>
            <a:ext cx="522122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" y="504748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4A90E5"/>
                </a:solidFill>
                <a:latin typeface="Microsoft YaHei"/>
                <a:ea typeface="Microsoft YaHei"/>
              </a:rPr>
              <a:t>7×24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50474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  <a:ea typeface="Microsoft YaHei"/>
              </a:rPr>
              <a:t>常驻推进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5029200"/>
            <a:ext cx="20208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909399"/>
                </a:solidFill>
                <a:latin typeface="Microsoft YaHei"/>
                <a:ea typeface="Microsoft YaHei"/>
              </a:rPr>
              <a:t>AI FDE 前向部署在客户工作流里，休息时间也推进，不占人头、随叫随到。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88736" y="4956048"/>
            <a:ext cx="522122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504748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4A90E5"/>
                </a:solidFill>
                <a:latin typeface="Microsoft YaHei"/>
                <a:ea typeface="Microsoft YaHei"/>
              </a:rPr>
              <a:t>按任务 · 配额度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50474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  <a:ea typeface="Microsoft YaHei"/>
              </a:rPr>
              <a:t>成本看得见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5029200"/>
            <a:ext cx="20208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909399"/>
                </a:solidFill>
                <a:latin typeface="Microsoft YaHei"/>
                <a:ea typeface="Microsoft YaHei"/>
              </a:rPr>
              <a:t>成本按任务结算，内置配额护栏；客户放权不再担心“无限烧钱”。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6035040"/>
            <a:ext cx="11368735" cy="475488"/>
          </a:xfrm>
          <a:prstGeom prst="roundRect">
            <a:avLst>
              <a:gd name="adj" fmla="val 6000"/>
            </a:avLst>
          </a:prstGeom>
          <a:solidFill>
            <a:srgbClr val="EBF3FC"/>
          </a:solidFill>
          <a:ln w="9525">
            <a:solidFill>
              <a:srgbClr val="CF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144768"/>
            <a:ext cx="1100297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>
              <a:lnSpc>
                <a:spcPct val="110000"/>
              </a:lnSpc>
            </a:pPr>
            <a:r>
              <a:rPr sz="1200" b="1">
                <a:solidFill>
                  <a:srgbClr val="4A90E5"/>
                </a:solidFill>
                <a:latin typeface="Microsoft YaHei"/>
                <a:ea typeface="Microsoft YaHei"/>
              </a:rPr>
              <a:t>一句话　</a:t>
            </a:r>
            <a:r>
              <a:rPr sz="1200" b="1">
                <a:solidFill>
                  <a:srgbClr val="333333"/>
                </a:solidFill>
                <a:latin typeface="Microsoft YaHei"/>
                <a:ea typeface="Microsoft YaHei"/>
              </a:rPr>
              <a:t>把 AI 工程师像一支训练有素的远程团队派驻到客户业务里——客户只管派目标与验收，过程透明、成本可控、随时可交接。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217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09399"/>
                </a:solidFill>
                <a:latin typeface="Microsoft YaHei"/>
                <a:ea typeface="Microsoft YaHei"/>
              </a:rPr>
              <a:t>teamx · 共享目标团队协作 / AI FDE 运行治理底座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82935" y="6217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09399"/>
                </a:solidFill>
                <a:latin typeface="Microsoft YaHei"/>
                <a:ea typeface="Microsoft YaHei"/>
              </a:rPr>
              <a:t>01 · 一页概览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41148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4A9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438912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A90E5"/>
                </a:solidFill>
                <a:latin typeface="Microsoft YaHei"/>
                <a:ea typeface="Microsoft YaHei"/>
              </a:rPr>
              <a:t>teamx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56855" y="466344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BF3FC"/>
          </a:solidFill>
          <a:ln w="9525">
            <a:solidFill>
              <a:srgbClr val="CF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0000" rIns="90000" tIns="0" bIns="0"/>
          <a:lstStyle/>
          <a:p>
            <a:pPr algn="l"/>
            <a:r>
              <a:rPr sz="1050" b="1">
                <a:solidFill>
                  <a:srgbClr val="4A90E5"/>
                </a:solidFill>
                <a:latin typeface="Microsoft YaHei"/>
                <a:ea typeface="Microsoft YaHei"/>
              </a:rPr>
              <a:t>DETAIL 01 · 问题与解法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333333"/>
                </a:solidFill>
                <a:latin typeface="Microsoft YaHei"/>
                <a:ea typeface="Microsoft YaHei"/>
              </a:rPr>
              <a:t>AI FDE 规模化之前，先回答客户的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4A90E5"/>
                </a:solidFill>
                <a:latin typeface="Microsoft YaHei"/>
                <a:ea typeface="Microsoft YaHei"/>
              </a:rPr>
              <a:t>四个不放心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40"/>
            <a:ext cx="18288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13432" y="1691640"/>
            <a:ext cx="43891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75704" y="1691640"/>
            <a:ext cx="4663440" cy="713232"/>
          </a:xfrm>
          <a:prstGeom prst="roundRect">
            <a:avLst>
              <a:gd name="adj" fmla="val 6000"/>
            </a:avLst>
          </a:prstGeom>
          <a:solidFill>
            <a:srgbClr val="EBF3FC"/>
          </a:solidFill>
          <a:ln w="9525">
            <a:solidFill>
              <a:srgbClr val="CF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746504"/>
            <a:ext cx="160934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333333"/>
                </a:solidFill>
                <a:latin typeface="Microsoft YaHei"/>
                <a:ea typeface="Microsoft YaHei"/>
              </a:rPr>
              <a:t>失控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728216"/>
            <a:ext cx="4114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09399"/>
                </a:solidFill>
                <a:latin typeface="Microsoft YaHei"/>
                <a:ea typeface="Microsoft YaHei"/>
              </a:rPr>
              <a:t>一堆 Agent 同时在客户那边跑，没有“谁在干什么”的统一视图。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856" y="1728216"/>
            <a:ext cx="4389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一个团队工作台：成员/任务/状态/目标全在账本上，随时看全局。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496312"/>
            <a:ext cx="18288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13432" y="2496312"/>
            <a:ext cx="43891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75704" y="2496312"/>
            <a:ext cx="4663440" cy="713232"/>
          </a:xfrm>
          <a:prstGeom prst="roundRect">
            <a:avLst>
              <a:gd name="adj" fmla="val 6000"/>
            </a:avLst>
          </a:prstGeom>
          <a:solidFill>
            <a:srgbClr val="EBF3FC"/>
          </a:solidFill>
          <a:ln w="9525">
            <a:solidFill>
              <a:srgbClr val="CF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551176"/>
            <a:ext cx="160934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333333"/>
                </a:solidFill>
                <a:latin typeface="Microsoft YaHei"/>
                <a:ea typeface="Microsoft YaHei"/>
              </a:rPr>
              <a:t>不可验收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532888"/>
            <a:ext cx="4114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09399"/>
                </a:solidFill>
                <a:latin typeface="Microsoft YaHei"/>
                <a:ea typeface="Microsoft YaHei"/>
              </a:rPr>
              <a:t>干完了，但交付物没有标准、没有过程证据，客户不敢签收。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856" y="2532888"/>
            <a:ext cx="4389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任务状态机 + 交付物 + 人工 Approve 闸门：验收通过才算完成，全程留痕。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300984"/>
            <a:ext cx="18288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13432" y="3300984"/>
            <a:ext cx="43891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75704" y="3300984"/>
            <a:ext cx="4663440" cy="713232"/>
          </a:xfrm>
          <a:prstGeom prst="roundRect">
            <a:avLst>
              <a:gd name="adj" fmla="val 6000"/>
            </a:avLst>
          </a:prstGeom>
          <a:solidFill>
            <a:srgbClr val="EBF3FC"/>
          </a:solidFill>
          <a:ln w="9525">
            <a:solidFill>
              <a:srgbClr val="CF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3355848"/>
            <a:ext cx="160934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333333"/>
                </a:solidFill>
                <a:latin typeface="Microsoft YaHei"/>
                <a:ea typeface="Microsoft YaHei"/>
              </a:rPr>
              <a:t>成本黑洞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3337560"/>
            <a:ext cx="4114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09399"/>
                </a:solidFill>
                <a:latin typeface="Microsoft YaHei"/>
                <a:ea typeface="Microsoft YaHei"/>
              </a:rPr>
              <a:t>Agent 无限探索烧 token，客户不敢放权给 AI。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3337560"/>
            <a:ext cx="4389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每成员/每任务成本配额护栏，超限即停；成本按任务透明结算。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105656"/>
            <a:ext cx="18288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13432" y="4105656"/>
            <a:ext cx="43891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75704" y="4105656"/>
            <a:ext cx="4663440" cy="713232"/>
          </a:xfrm>
          <a:prstGeom prst="roundRect">
            <a:avLst>
              <a:gd name="adj" fmla="val 6000"/>
            </a:avLst>
          </a:prstGeom>
          <a:solidFill>
            <a:srgbClr val="EBF3FC"/>
          </a:solidFill>
          <a:ln w="9525">
            <a:solidFill>
              <a:srgbClr val="CF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4160520"/>
            <a:ext cx="160934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333333"/>
                </a:solidFill>
                <a:latin typeface="Microsoft YaHei"/>
                <a:ea typeface="Microsoft YaHei"/>
              </a:rPr>
              <a:t>不可交接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4142232"/>
            <a:ext cx="4114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09399"/>
                </a:solidFill>
                <a:latin typeface="Microsoft YaHei"/>
                <a:ea typeface="Microsoft YaHei"/>
              </a:rPr>
              <a:t>人一走、Agent 一关，上下文与知识全丢。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8856" y="4142232"/>
            <a:ext cx="4389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契约化 TEAM.md + 引用带原文快照 + 审计账本：换人换 Agent 知识仍在。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8920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" y="50017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" y="5276088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Microsoft YaHei"/>
                <a:ea typeface="Microsoft YaHei"/>
              </a:rPr>
              <a:t>不是又一个写代码的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" y="5532120"/>
            <a:ext cx="3090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09399"/>
                </a:solidFill>
                <a:latin typeface="Microsoft YaHei"/>
                <a:ea typeface="Microsoft YaHei"/>
              </a:rPr>
              <a:t>写代码的 Agent 很多；teamx 是让“人类 owner + 一群 AI FDE”组成可信团队的那一层。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50792" y="48920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97096" y="50017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97096" y="5276088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Microsoft YaHei"/>
                <a:ea typeface="Microsoft YaHei"/>
              </a:rPr>
              <a:t>人机混合，不是替代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97096" y="5532120"/>
            <a:ext cx="3090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09399"/>
                </a:solidFill>
                <a:latin typeface="Microsoft YaHei"/>
                <a:ea typeface="Microsoft YaHei"/>
              </a:rPr>
              <a:t>专家 + AI FDE 同一团队协作，AI 让每位工程师产能翻倍，内部推行阻力小。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0104" y="48920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36408" y="50017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36408" y="5276088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Microsoft YaHei"/>
                <a:ea typeface="Microsoft YaHei"/>
              </a:rPr>
              <a:t>试点变方法论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36408" y="5532120"/>
            <a:ext cx="3090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09399"/>
                </a:solidFill>
                <a:latin typeface="Microsoft YaHei"/>
                <a:ea typeface="Microsoft YaHei"/>
              </a:rPr>
              <a:t>一次成功 FDE 项目沉淀成团队模板，新客户开箱即用，交付可复制。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217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09399"/>
                </a:solidFill>
                <a:latin typeface="Microsoft YaHei"/>
                <a:ea typeface="Microsoft YaHei"/>
              </a:rPr>
              <a:t>为什么 AI FDE 需要 teamx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82935" y="6217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09399"/>
                </a:solidFill>
                <a:latin typeface="Microsoft YaHei"/>
                <a:ea typeface="Microsoft YaHei"/>
              </a:rPr>
              <a:t>02 · 详细介绍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41148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4A9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438912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A90E5"/>
                </a:solidFill>
                <a:latin typeface="Microsoft YaHei"/>
                <a:ea typeface="Microsoft YaHei"/>
              </a:rPr>
              <a:t>teamx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56855" y="466344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BF3FC"/>
          </a:solidFill>
          <a:ln w="9525">
            <a:solidFill>
              <a:srgbClr val="CF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0000" rIns="90000" tIns="0" bIns="0"/>
          <a:lstStyle/>
          <a:p>
            <a:pPr algn="l"/>
            <a:r>
              <a:rPr sz="1050" b="1">
                <a:solidFill>
                  <a:srgbClr val="4A90E5"/>
                </a:solidFill>
                <a:latin typeface="Microsoft YaHei"/>
                <a:ea typeface="Microsoft YaHei"/>
              </a:rPr>
              <a:t>DETAIL 02 · 面向企业内部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333333"/>
                </a:solidFill>
                <a:latin typeface="Microsoft YaHei"/>
                <a:ea typeface="Microsoft YaHei"/>
              </a:rPr>
              <a:t>在公司内部推行 FDE，你不只缺 Agent，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4A90E5"/>
                </a:solidFill>
                <a:latin typeface="Microsoft YaHei"/>
                <a:ea typeface="Microsoft YaHei"/>
              </a:rPr>
              <a:t>更缺秩序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27632"/>
            <a:ext cx="53949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7190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</a:rPr>
              <a:t>🗂️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7373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333333"/>
                </a:solidFill>
                <a:latin typeface="Microsoft YaHei"/>
                <a:ea typeface="Microsoft YaHei"/>
              </a:rPr>
              <a:t>统一指挥层（CEO / Lead）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084832"/>
            <a:ext cx="5074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6"/>
              </a:spcAft>
            </a:pPr>
            <a:r>
              <a:rPr sz="1100" b="1">
                <a:solidFill>
                  <a:srgbClr val="67C23A"/>
                </a:solidFill>
                <a:latin typeface="Microsoft YaHei"/>
                <a:ea typeface="Microsoft YaHei"/>
              </a:rPr>
              <a:t>✓  </a:t>
            </a: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所有 FDE 项目进同一套“团队操作系统”</a:t>
            </a:r>
          </a:p>
          <a:p>
            <a:pPr algn="l">
              <a:lnSpc>
                <a:spcPct val="100000"/>
              </a:lnSpc>
              <a:spcAft>
                <a:spcPts val="16"/>
              </a:spcAft>
            </a:pPr>
            <a:r>
              <a:rPr sz="1100" b="1">
                <a:solidFill>
                  <a:srgbClr val="67C23A"/>
                </a:solidFill>
                <a:latin typeface="Microsoft YaHei"/>
                <a:ea typeface="Microsoft YaHei"/>
              </a:rPr>
              <a:t>✓  </a:t>
            </a: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每支 AI 团队：目标 / 任务 / 进度 / 成本一块屏看清</a:t>
            </a:r>
          </a:p>
          <a:p>
            <a:pPr algn="l">
              <a:lnSpc>
                <a:spcPct val="100000"/>
              </a:lnSpc>
              <a:spcAft>
                <a:spcPts val="16"/>
              </a:spcAft>
            </a:pPr>
            <a:r>
              <a:rPr sz="1100" b="1">
                <a:solidFill>
                  <a:srgbClr val="67C23A"/>
                </a:solidFill>
                <a:latin typeface="Microsoft YaHei"/>
                <a:ea typeface="Microsoft YaHei"/>
              </a:rPr>
              <a:t>✓  </a:t>
            </a: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从几个试点到全公司方法论，有统一底座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25896" y="1627632"/>
            <a:ext cx="53949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7190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</a:rPr>
              <a:t>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17373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333333"/>
                </a:solidFill>
                <a:latin typeface="Microsoft YaHei"/>
                <a:ea typeface="Microsoft YaHei"/>
              </a:rPr>
              <a:t>方法论可复制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084832"/>
            <a:ext cx="5074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6"/>
              </a:spcAft>
            </a:pPr>
            <a:r>
              <a:rPr sz="1100" b="1">
                <a:solidFill>
                  <a:srgbClr val="67C23A"/>
                </a:solidFill>
                <a:latin typeface="Microsoft YaHei"/>
                <a:ea typeface="Microsoft YaHei"/>
              </a:rPr>
              <a:t>✓  </a:t>
            </a: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TEAM.md 契约：角色 / 流程 / 验收标准写进团队定义</a:t>
            </a:r>
          </a:p>
          <a:p>
            <a:pPr algn="l">
              <a:lnSpc>
                <a:spcPct val="100000"/>
              </a:lnSpc>
              <a:spcAft>
                <a:spcPts val="16"/>
              </a:spcAft>
            </a:pPr>
            <a:r>
              <a:rPr sz="1100" b="1">
                <a:solidFill>
                  <a:srgbClr val="67C23A"/>
                </a:solidFill>
                <a:latin typeface="Microsoft YaHei"/>
                <a:ea typeface="Microsoft YaHei"/>
              </a:rPr>
              <a:t>✓  </a:t>
            </a: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成功项目沉淀为模板，新项目/客户开箱即用</a:t>
            </a:r>
          </a:p>
          <a:p>
            <a:pPr algn="l">
              <a:lnSpc>
                <a:spcPct val="100000"/>
              </a:lnSpc>
              <a:spcAft>
                <a:spcPts val="16"/>
              </a:spcAft>
            </a:pPr>
            <a:r>
              <a:rPr sz="1100" b="1">
                <a:solidFill>
                  <a:srgbClr val="67C23A"/>
                </a:solidFill>
                <a:latin typeface="Microsoft YaHei"/>
                <a:ea typeface="Microsoft YaHei"/>
              </a:rPr>
              <a:t>✓  </a:t>
            </a: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跨团队复用 SOP，不依赖某个人或某个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630168"/>
            <a:ext cx="53949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" y="3721607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</a:rPr>
              <a:t>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7398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333333"/>
                </a:solidFill>
                <a:latin typeface="Microsoft YaHei"/>
                <a:ea typeface="Microsoft YaHei"/>
              </a:rPr>
              <a:t>合规与风控闸门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087368"/>
            <a:ext cx="5074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6"/>
              </a:spcAft>
            </a:pPr>
            <a:r>
              <a:rPr sz="1100" b="1">
                <a:solidFill>
                  <a:srgbClr val="67C23A"/>
                </a:solidFill>
                <a:latin typeface="Microsoft YaHei"/>
                <a:ea typeface="Microsoft YaHei"/>
              </a:rPr>
              <a:t>✓  </a:t>
            </a: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人工 Approve 写闸门：AI 产出先审后入</a:t>
            </a:r>
          </a:p>
          <a:p>
            <a:pPr algn="l">
              <a:lnSpc>
                <a:spcPct val="100000"/>
              </a:lnSpc>
              <a:spcAft>
                <a:spcPts val="16"/>
              </a:spcAft>
            </a:pPr>
            <a:r>
              <a:rPr sz="1100" b="1">
                <a:solidFill>
                  <a:srgbClr val="67C23A"/>
                </a:solidFill>
                <a:latin typeface="Microsoft YaHei"/>
                <a:ea typeface="Microsoft YaHei"/>
              </a:rPr>
              <a:t>✓  </a:t>
            </a: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全程 ledger 留痕，可导出审计</a:t>
            </a:r>
          </a:p>
          <a:p>
            <a:pPr algn="l">
              <a:lnSpc>
                <a:spcPct val="100000"/>
              </a:lnSpc>
              <a:spcAft>
                <a:spcPts val="16"/>
              </a:spcAft>
            </a:pPr>
            <a:r>
              <a:rPr sz="1100" b="1">
                <a:solidFill>
                  <a:srgbClr val="67C23A"/>
                </a:solidFill>
                <a:latin typeface="Microsoft YaHei"/>
                <a:ea typeface="Microsoft YaHei"/>
              </a:rPr>
              <a:t>✓  </a:t>
            </a: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让 AI 进内部系统过得了安全与法务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25896" y="3630168"/>
            <a:ext cx="53949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721607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</a:rPr>
              <a:t>🧑‍🤝‍🧑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37398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333333"/>
                </a:solidFill>
                <a:latin typeface="Microsoft YaHei"/>
                <a:ea typeface="Microsoft YaHei"/>
              </a:rPr>
              <a:t>人机混合团队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087368"/>
            <a:ext cx="5074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6"/>
              </a:spcAft>
            </a:pPr>
            <a:r>
              <a:rPr sz="1100" b="1">
                <a:solidFill>
                  <a:srgbClr val="67C23A"/>
                </a:solidFill>
                <a:latin typeface="Microsoft YaHei"/>
                <a:ea typeface="Microsoft YaHei"/>
              </a:rPr>
              <a:t>✓  </a:t>
            </a: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专家与 AI FDE 同一团队，不是替代</a:t>
            </a:r>
          </a:p>
          <a:p>
            <a:pPr algn="l">
              <a:lnSpc>
                <a:spcPct val="100000"/>
              </a:lnSpc>
              <a:spcAft>
                <a:spcPts val="16"/>
              </a:spcAft>
            </a:pPr>
            <a:r>
              <a:rPr sz="1100" b="1">
                <a:solidFill>
                  <a:srgbClr val="67C23A"/>
                </a:solidFill>
                <a:latin typeface="Microsoft YaHei"/>
                <a:ea typeface="Microsoft YaHei"/>
              </a:rPr>
              <a:t>✓  </a:t>
            </a: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AI 承接重复/监控/初稿，专家做判断与终审</a:t>
            </a:r>
          </a:p>
          <a:p>
            <a:pPr algn="l">
              <a:lnSpc>
                <a:spcPct val="100000"/>
              </a:lnSpc>
              <a:spcAft>
                <a:spcPts val="16"/>
              </a:spcAft>
            </a:pPr>
            <a:r>
              <a:rPr sz="1100" b="1">
                <a:solidFill>
                  <a:srgbClr val="67C23A"/>
                </a:solidFill>
                <a:latin typeface="Microsoft YaHei"/>
                <a:ea typeface="Microsoft YaHei"/>
              </a:rPr>
              <a:t>✓  </a:t>
            </a: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每位工程师产能翻倍，推行阻力最小化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440680"/>
            <a:ext cx="11368735" cy="658368"/>
          </a:xfrm>
          <a:prstGeom prst="roundRect">
            <a:avLst>
              <a:gd name="adj" fmla="val 6000"/>
            </a:avLst>
          </a:prstGeom>
          <a:solidFill>
            <a:srgbClr val="EBF3FC"/>
          </a:solidFill>
          <a:ln w="9525">
            <a:solidFill>
              <a:srgbClr val="CF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550408"/>
            <a:ext cx="1100297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>
              <a:lnSpc>
                <a:spcPct val="110000"/>
              </a:lnSpc>
            </a:pPr>
            <a:r>
              <a:rPr sz="1200" b="1">
                <a:solidFill>
                  <a:srgbClr val="4A90E5"/>
                </a:solidFill>
                <a:latin typeface="Microsoft YaHei"/>
                <a:ea typeface="Microsoft YaHei"/>
              </a:rPr>
              <a:t>典型内部项目流　</a:t>
            </a: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建团队 / 定义 TEAM.md　→　AI FDE 认领任务　→　产出进入验收队列　→　专家 Approve / 打回　→　沉淀为模板复用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217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09399"/>
                </a:solidFill>
                <a:latin typeface="Microsoft YaHei"/>
                <a:ea typeface="Microsoft YaHei"/>
              </a:rPr>
              <a:t>面向企业内部推行 FDE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2935" y="6217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09399"/>
                </a:solidFill>
                <a:latin typeface="Microsoft YaHei"/>
                <a:ea typeface="Microsoft YaHei"/>
              </a:rPr>
              <a:t>03 · 详细介绍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41148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4A9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438912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A90E5"/>
                </a:solidFill>
                <a:latin typeface="Microsoft YaHei"/>
                <a:ea typeface="Microsoft YaHei"/>
              </a:rPr>
              <a:t>teamx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56855" y="466344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BF3FC"/>
          </a:solidFill>
          <a:ln w="9525">
            <a:solidFill>
              <a:srgbClr val="CF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0000" rIns="90000" tIns="0" bIns="0"/>
          <a:lstStyle/>
          <a:p>
            <a:pPr algn="l"/>
            <a:r>
              <a:rPr sz="1050" b="1">
                <a:solidFill>
                  <a:srgbClr val="4A90E5"/>
                </a:solidFill>
                <a:latin typeface="Microsoft YaHei"/>
                <a:ea typeface="Microsoft YaHei"/>
              </a:rPr>
              <a:t>DETAIL 03 · 面向公司客户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333333"/>
                </a:solidFill>
                <a:latin typeface="Microsoft YaHei"/>
                <a:ea typeface="Microsoft YaHei"/>
              </a:rPr>
              <a:t>对客户，不卖“Agent”，卖一支看得见、管得住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4A90E5"/>
                </a:solidFill>
                <a:latin typeface="Microsoft YaHei"/>
                <a:ea typeface="Microsoft YaHei"/>
              </a:rPr>
              <a:t>的 AI 工程师团队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539496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9385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👁️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212848"/>
            <a:ext cx="5102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333333"/>
                </a:solidFill>
                <a:latin typeface="Microsoft YaHei"/>
                <a:ea typeface="Microsoft YaHei"/>
              </a:rPr>
              <a:t>客户看到的是“团队”，不是黑盒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468880"/>
            <a:ext cx="51023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909399"/>
                </a:solidFill>
                <a:latin typeface="Microsoft YaHei"/>
                <a:ea typeface="Microsoft YaHei"/>
              </a:rPr>
              <a:t>开一个团队就看到“自己的 AI 工程师”名单、实时工作台与任务进展——像雇了一支远程团队。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25896" y="1828800"/>
            <a:ext cx="539496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9385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12848"/>
            <a:ext cx="5102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333333"/>
                </a:solidFill>
                <a:latin typeface="Microsoft YaHei"/>
                <a:ea typeface="Microsoft YaHei"/>
              </a:rPr>
              <a:t>按任务验收，不是按人头付费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468880"/>
            <a:ext cx="51023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909399"/>
                </a:solidFill>
                <a:latin typeface="Microsoft YaHei"/>
                <a:ea typeface="Microsoft YaHei"/>
              </a:rPr>
              <a:t>派活 → 状态机流转 → 交付物 → 客户验收/打回；成本按任务结算，自带配额护栏。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014215"/>
            <a:ext cx="539496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" y="41239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4398264"/>
            <a:ext cx="5102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333333"/>
                </a:solidFill>
                <a:latin typeface="Microsoft YaHei"/>
                <a:ea typeface="Microsoft YaHei"/>
              </a:rPr>
              <a:t>过程可审计，交付可追溯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4654296"/>
            <a:ext cx="51023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909399"/>
                </a:solidFill>
                <a:latin typeface="Microsoft YaHei"/>
                <a:ea typeface="Microsoft YaHei"/>
              </a:rPr>
              <a:t>每步进账本，引用带原文快照——解决“AI 不可信”最大顾虑，签收有依据。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25896" y="4014215"/>
            <a:ext cx="539496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1239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398264"/>
            <a:ext cx="5102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333333"/>
                </a:solidFill>
                <a:latin typeface="Microsoft YaHei"/>
                <a:ea typeface="Microsoft YaHei"/>
              </a:rPr>
              <a:t>7×24 前向部署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654296"/>
            <a:ext cx="51023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909399"/>
                </a:solidFill>
                <a:latin typeface="Microsoft YaHei"/>
                <a:ea typeface="Microsoft YaHei"/>
              </a:rPr>
              <a:t>AI FDE 常驻客户工作流，休息时间也推进；客户只做方向与验收。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943600"/>
            <a:ext cx="11368735" cy="457200"/>
          </a:xfrm>
          <a:prstGeom prst="roundRect">
            <a:avLst>
              <a:gd name="adj" fmla="val 6000"/>
            </a:avLst>
          </a:prstGeom>
          <a:solidFill>
            <a:srgbClr val="EBF3FC"/>
          </a:solidFill>
          <a:ln w="9525">
            <a:solidFill>
              <a:srgbClr val="CF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053328"/>
            <a:ext cx="11002975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>
              <a:lnSpc>
                <a:spcPct val="110000"/>
              </a:lnSpc>
            </a:pPr>
            <a:r>
              <a:rPr sz="1150" b="1">
                <a:solidFill>
                  <a:srgbClr val="4A90E5"/>
                </a:solidFill>
                <a:latin typeface="Microsoft YaHei"/>
                <a:ea typeface="Microsoft YaHei"/>
              </a:rPr>
              <a:t>客户体验的一周　</a:t>
            </a: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开团队/看到 FDE 名单　→　派第一个目标　→　7×24 推进并汇报　→　客户验收交付物　→　成本明细清晰可查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217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09399"/>
                </a:solidFill>
                <a:latin typeface="Microsoft YaHei"/>
                <a:ea typeface="Microsoft YaHei"/>
              </a:rPr>
              <a:t>teamx · FDE 交付底座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2935" y="6217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09399"/>
                </a:solidFill>
                <a:latin typeface="Microsoft YaHei"/>
                <a:ea typeface="Microsoft YaHei"/>
              </a:rPr>
              <a:t>04 · 详细介绍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